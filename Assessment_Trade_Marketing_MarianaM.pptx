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4572000" cy="6858000"/>
          </a:xfrm>
          <a:prstGeom prst="rect">
            <a:avLst/>
          </a:prstGeom>
          <a:solidFill>
            <a:srgbClr val="C00020"/>
          </a:solidFill>
          <a:ln>
            <a:noFill/>
          </a:ln>
          <a:prstGeom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73152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200" y="0"/>
            <a:ext cx="35021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D700"/>
                </a:solidFill>
              </a:rPr>
              <a:t>SUPER DE ALIMENTOS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4519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700"/>
                </a:solidFill>
              </a:rPr>
              <a:t>ANALISTA TRADE MARKETING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51760"/>
            <a:ext cx="5486400" cy="45720"/>
          </a:xfrm>
          <a:prstGeom prst="rect">
            <a:avLst/>
          </a:prstGeom>
          <a:solidFill>
            <a:srgbClr val="C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788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2F2F2"/>
                </a:solidFill>
              </a:rPr>
              <a:t>Estrategia &amp; Ejecución: Ecuador  |  Honduras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914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700"/>
                </a:solidFill>
              </a:rPr>
              <a:t>CONTENIDO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46920" y="1463040"/>
            <a:ext cx="2331720" cy="1188720"/>
          </a:xfrm>
          <a:prstGeom prst="rect">
            <a:avLst/>
          </a:prstGeom>
          <a:solidFill>
            <a:srgbClr val="22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38360" y="1554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00020"/>
                </a:solidFill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160020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Branding en Mayoristas
Ecuador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46920" y="2926080"/>
            <a:ext cx="2331720" cy="1188720"/>
          </a:xfrm>
          <a:prstGeom prst="rect">
            <a:avLst/>
          </a:prstGeom>
          <a:solidFill>
            <a:srgbClr val="22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8360" y="3017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00020"/>
                </a:solidFill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306324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Plan de Incentivos
Honduras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4389120"/>
            <a:ext cx="2331720" cy="1188720"/>
          </a:xfrm>
          <a:prstGeom prst="rect">
            <a:avLst/>
          </a:prstGeom>
          <a:solidFill>
            <a:srgbClr val="22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38360" y="44805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00020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452628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Oferta Edición Estelar
Ecuador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836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Mayo 2026  |  Candidata: Mariana Montejo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CONTEXTO DE MERCADO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4712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5303520" cy="5394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5303520" cy="411480"/>
          </a:xfrm>
          <a:prstGeom prst="rect">
            <a:avLst/>
          </a:prstGeom>
          <a:solidFill>
            <a:srgbClr val="C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8755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🇪🇨  ECUADOR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087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300"/>
                </a:solidFill>
              </a:rPr>
              <a:t>ESTRUCTURA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78308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F2F2"/>
                </a:solidFill>
              </a:rPr>
              <a:t>▸  1 Gerente · 1 Ejecutivo · 1 Formador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7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F2F2"/>
                </a:solidFill>
              </a:rPr>
              <a:t>▸  15 Mercaderistas (ciudades principales)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276856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F2F2"/>
                </a:solidFill>
              </a:rPr>
              <a:t>▸  Dirección: Quito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3347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300"/>
                </a:solidFill>
              </a:rPr>
              <a:t>MERCADO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07791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F2F2"/>
                </a:solidFill>
              </a:rPr>
              <a:t>▸  Trululu lidera TOM de categoría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154679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F2F2"/>
                </a:solidFill>
              </a:rPr>
              <a:t>▸  80% del volumen en mayoristas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401568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F2F2"/>
                </a:solidFill>
              </a:rPr>
              <a:t>▸  Bianchi, OkaLoka y Next son top SKU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758183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300"/>
                </a:solidFill>
              </a:rPr>
              <a:t>TRADE ACTUAL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032503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F2F2"/>
                </a:solidFill>
              </a:rPr>
              <a:t>▸  Plan de incentivos con distribuidor único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27939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F2F2"/>
                </a:solidFill>
              </a:rPr>
              <a:t>▸  Por venta neta x vendedor 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526279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F2F2"/>
                </a:solidFill>
              </a:rPr>
              <a:t>▸  Por ubicación de exhibidores Trululu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773167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F2F2"/>
                </a:solidFill>
              </a:rPr>
              <a:t>▸  Branding de avisos en mayoristas (galerías)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960120"/>
            <a:ext cx="5303520" cy="5394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960120"/>
            <a:ext cx="5303520" cy="41148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98755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🇭🇳  HONDURAS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15087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300"/>
                </a:solidFill>
              </a:rPr>
              <a:t>ESTRUCTURA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178308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F2F2"/>
                </a:solidFill>
              </a:rPr>
              <a:t>▸  1 Gerente (Colombia)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2029967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F2F2"/>
                </a:solidFill>
              </a:rPr>
              <a:t>▸  2 Ejecutivos (SPS y Tegucigalpa)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227685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F2F2"/>
                </a:solidFill>
              </a:rPr>
              <a:t>▸  7 Mercaderistas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263347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300"/>
                </a:solidFill>
              </a:rPr>
              <a:t>MERCADO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2907791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F2F2"/>
                </a:solidFill>
              </a:rPr>
              <a:t>▸  Gran cantidad de distribuidores T2T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3154679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F2F2"/>
                </a:solidFill>
              </a:rPr>
              <a:t>▸  Múltiples BBDD en esquemas propios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340156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F2F2"/>
                </a:solidFill>
              </a:rPr>
              <a:t>▸  Trululu Nanos: SKU ancla del plan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3758183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300"/>
                </a:solidFill>
              </a:rPr>
              <a:t>TRADE ACTUAL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4032503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F2F2"/>
                </a:solidFill>
              </a:rPr>
              <a:t>▸  Incentivos: 100% cobertura de tiendas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427939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F2F2"/>
                </a:solidFill>
              </a:rPr>
              <a:t>▸  Con venta de Trululu Nanos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4526279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F2F2"/>
                </a:solidFill>
              </a:rPr>
              <a:t>▸  Mercaderistas en mayoristas clave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4773167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F2F2"/>
                </a:solidFill>
              </a:rPr>
              <a:t>▸  Degustaciones y combos de volumen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5020055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F2F2"/>
                </a:solidFill>
              </a:rPr>
              <a:t>▸  Descuento 10% por compra mín. 400 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</a:rPr>
              <a:t>Super de Alimentos  |  Assessment Trade Marketing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731520"/>
            <a:ext cx="2011680" cy="2011680"/>
          </a:xfrm>
          <a:prstGeom prst="rect">
            <a:avLst/>
          </a:prstGeom>
          <a:solidFill>
            <a:srgbClr val="C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2011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822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D700"/>
                </a:solidFill>
              </a:rPr>
              <a:t>CASO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234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BRANDING EN MAYORISTAS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9659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D700"/>
                </a:solidFill>
              </a:rPr>
              <a:t>ECUADOR  🇪🇨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2560320"/>
            <a:ext cx="8961120" cy="45720"/>
          </a:xfrm>
          <a:prstGeom prst="rect">
            <a:avLst/>
          </a:prstGeom>
          <a:solidFill>
            <a:srgbClr val="C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2697480"/>
            <a:ext cx="8961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2F2F2"/>
                </a:solidFill>
              </a:rPr>
              <a:t>Desarrollar un plan de branding en avisos de mayoristas,
conseguir mínimo 2 espacios adicionales para Trululu Nanos
y coordinar con el equipo de diseño preservando la identidad del cliente.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4114800"/>
            <a:ext cx="201168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41605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4663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300"/>
                </a:solidFill>
              </a:rPr>
              <a:t>Diagnóstico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0" y="4114800"/>
            <a:ext cx="201168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41605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4663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300"/>
                </a:solidFill>
              </a:rPr>
              <a:t>Negociación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4114800"/>
            <a:ext cx="201168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41605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4663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300"/>
                </a:solidFill>
              </a:rPr>
              <a:t>Diseño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09760" y="4114800"/>
            <a:ext cx="201168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0" y="41605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4663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300"/>
                </a:solidFill>
              </a:rPr>
              <a:t>Seguimiento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</a:rPr>
              <a:t>Super de Alimentos  |  Assessment Trade Marketing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CASO 01  |  PASOS DE EJECUCIÓN DEL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58368"/>
            <a:ext cx="114300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777240"/>
            <a:ext cx="5760720" cy="1783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" y="850392"/>
            <a:ext cx="347472" cy="347472"/>
          </a:xfrm>
          <a:prstGeom prst="rect">
            <a:avLst/>
          </a:prstGeom>
          <a:solidFill>
            <a:srgbClr val="C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832103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850392"/>
            <a:ext cx="5166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300"/>
                </a:solidFill>
              </a:rPr>
              <a:t>DIAGNÓSTICO Y MAPEO DE MAYORISTAS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252728"/>
            <a:ext cx="5532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2F2F2"/>
                </a:solidFill>
              </a:rPr>
              <a:t>Levantar inventario de galerías/mayoristas por ciudad. Identificar los 5-8 clientes de mayor volumen de compra de Super de Alimentos. Fotografiar avisos actuales, zonas de tráfico y espacios disponibles. Clasificar por potencial de visibilidad (A/B/C).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79192"/>
            <a:ext cx="5760720" cy="1783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" y="2752344"/>
            <a:ext cx="347472" cy="347472"/>
          </a:xfrm>
          <a:prstGeom prst="rect">
            <a:avLst/>
          </a:prstGeom>
          <a:solidFill>
            <a:srgbClr val="C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273405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2752344"/>
            <a:ext cx="5166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300"/>
                </a:solidFill>
              </a:rPr>
              <a:t>ABORDAJE Y NEGOCIACIÓN CON EL CLIENTE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3154680"/>
            <a:ext cx="5532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2F2F2"/>
                </a:solidFill>
              </a:rPr>
              <a:t>El ejecutivo comercial agenda reunión con el dueño/administrador de cada mayorista. Se presenta propuesta de valor: 'Nosotros ponemos el material y el costo de instalación, usted gana visibilidad premium en su negocio'. Se firma acuerdo de ubicación y tiempos (carta de autorización).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581144"/>
            <a:ext cx="5760720" cy="1783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" y="4654296"/>
            <a:ext cx="347472" cy="347472"/>
          </a:xfrm>
          <a:prstGeom prst="rect">
            <a:avLst/>
          </a:prstGeom>
          <a:solidFill>
            <a:srgbClr val="C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4636007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4654296"/>
            <a:ext cx="5166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300"/>
                </a:solidFill>
              </a:rPr>
              <a:t>INSTALACIÓN Y REGISTRO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5056631"/>
            <a:ext cx="5532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2F2F2"/>
                </a:solidFill>
              </a:rPr>
              <a:t>Instalación coordinada con mercaderistas + empresa de instalación externa según complejidad. Registro fotográfico con georreferenciación (antes/después). Acta de recepción firmada por el cliente con compromisos de preservación.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777240"/>
            <a:ext cx="5760720" cy="1783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73952" y="850392"/>
            <a:ext cx="347472" cy="347472"/>
          </a:xfrm>
          <a:prstGeom prst="rect">
            <a:avLst/>
          </a:prstGeom>
          <a:solidFill>
            <a:srgbClr val="C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832103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6288" y="850392"/>
            <a:ext cx="5166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300"/>
                </a:solidFill>
              </a:rPr>
              <a:t>DEFINICIÓN DEL PLAN DE ESPACIOS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1252728"/>
            <a:ext cx="5532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2F2F2"/>
                </a:solidFill>
              </a:rPr>
              <a:t>Establecer con el equipo comercial (Ejecutivo + Gerente Ecuador) los espacios prioritarios por cliente: (1) aviso principal del negocio + co-branding Trululu, (2) mínimo 2 puntos adicionales para Trululu Nanos (cabecera góndola, área de caja, isla central o vitrina exterior).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679192"/>
            <a:ext cx="5760720" cy="1783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73952" y="2752344"/>
            <a:ext cx="347472" cy="347472"/>
          </a:xfrm>
          <a:prstGeom prst="rect">
            <a:avLst/>
          </a:prstGeom>
          <a:solidFill>
            <a:srgbClr val="C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273405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76288" y="2752344"/>
            <a:ext cx="5166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300"/>
                </a:solidFill>
              </a:rPr>
              <a:t>BRIEFING AL EQUIPO DE DISEÑO Y PRODUCCIÓN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3154680"/>
            <a:ext cx="5532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2F2F2"/>
                </a:solidFill>
              </a:rPr>
              <a:t>Enviar ficha técnica por cliente: medidas exactas, material (vinilo/lona/acrílico), condición del soporte y restricciones del cliente. El diseño propone 2 opciones de artes para aprobación del cliente antes de producir.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581144"/>
            <a:ext cx="5760720" cy="1783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73952" y="4654296"/>
            <a:ext cx="347472" cy="347472"/>
          </a:xfrm>
          <a:prstGeom prst="rect">
            <a:avLst/>
          </a:prstGeom>
          <a:solidFill>
            <a:srgbClr val="C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73952" y="4636007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76288" y="4654296"/>
            <a:ext cx="5166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300"/>
                </a:solidFill>
              </a:rPr>
              <a:t>AUDITORÍA Y PRESERVACIÓN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0528" y="5056631"/>
            <a:ext cx="5532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2F2F2"/>
                </a:solidFill>
              </a:rPr>
              <a:t>Revisión mensual por mercaderistas con checklist fotográfico (estado del material, limpieza, visibilidad no obstruida). Reposición inmediata si el material está dañado. KPI: % de puntos en óptimas condiciones vs total instalado.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</a:rPr>
              <a:t>Super de Alimentos  |  Assessment Trade Marketing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CASO 01  |  ÁREAS INVOLUCRADAS &amp; BRIEF AL DISEÑO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58368"/>
            <a:ext cx="114300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804672"/>
            <a:ext cx="5303520" cy="347472"/>
          </a:xfrm>
          <a:prstGeom prst="rect">
            <a:avLst/>
          </a:prstGeom>
          <a:solidFill>
            <a:srgbClr val="C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046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ÁREAS A CONTACTAR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61872"/>
            <a:ext cx="530352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0759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300"/>
                </a:solidFill>
              </a:rPr>
              <a:t>🏢 GERENCIA COMERCIAL ECUADOR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600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2F2F2"/>
                </a:solidFill>
              </a:rPr>
              <a:t>Alinear selección de clientes prioritarios y carta de autorización corporativa.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30552"/>
            <a:ext cx="530352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17627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300"/>
                </a:solidFill>
              </a:rPr>
              <a:t>👔 EJECUTIVO COMERCIAL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468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2F2F2"/>
                </a:solidFill>
              </a:rPr>
              <a:t>Liderar negociación directa con cada mayorista, gestionar permisos y acuerdos.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999232"/>
            <a:ext cx="530352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044951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300"/>
                </a:solidFill>
              </a:rPr>
              <a:t>🎨 EQUIPO DISEÑO TRADE MKT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337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2F2F2"/>
                </a:solidFill>
              </a:rPr>
              <a:t>Desarrollar artes bajo briefing técnico, gestionar aprobaciones y producción.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867911"/>
            <a:ext cx="530352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913631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300"/>
                </a:solidFill>
              </a:rPr>
              <a:t>👷 MERCADERISTAS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2062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2F2F2"/>
                </a:solidFill>
              </a:rPr>
              <a:t>Apoyo en instalación, registro fotográfico mensual y reporte de estado.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736592"/>
            <a:ext cx="530352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78231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300"/>
                </a:solidFill>
              </a:rPr>
              <a:t>🏭 PROVEEDOR POP / INSTALADOR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0749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2F2F2"/>
                </a:solidFill>
              </a:rPr>
              <a:t>Producción de materiales (vinilo, lona, señalética) e instalación especializada.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605272"/>
            <a:ext cx="530352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65099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300"/>
                </a:solidFill>
              </a:rPr>
              <a:t>📊 TRADE MARKETING REGIONAL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943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2F2F2"/>
                </a:solidFill>
              </a:rPr>
              <a:t>Alineación de lineamientos de marca, aprobación final de artes.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804672"/>
            <a:ext cx="5760720" cy="347472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80467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DIRECCIONAMIENTO AL EQUIPO DE DISEÑO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1261872"/>
            <a:ext cx="5760720" cy="1234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44768" y="131673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📐 BRIEF TÉCNICO POR PUNTO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1609343"/>
            <a:ext cx="5486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2F2F2"/>
                </a:solidFill>
              </a:rPr>
              <a:t>▸  Dimensiones exactas del aviso o espacio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1819655"/>
            <a:ext cx="5486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2F2F2"/>
                </a:solidFill>
              </a:rPr>
              <a:t>▸  Material soporte (pared, estructura metálica, madera)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2029967"/>
            <a:ext cx="5486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2F2F2"/>
                </a:solidFill>
              </a:rPr>
              <a:t>▸  Condiciones ambientales (interior / exterior, humedad)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2240279"/>
            <a:ext cx="5486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2F2F2"/>
                </a:solidFill>
              </a:rPr>
              <a:t>▸  Fotografías del espacio actual para referencia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2560320"/>
            <a:ext cx="5760720" cy="1234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44768" y="261518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🎨 CONCEPTO DE CO-BRANDING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200" y="2907791"/>
            <a:ext cx="5486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2F2F2"/>
                </a:solidFill>
              </a:rPr>
              <a:t>▸  Zona A (30%): Logo e identidad del mayorista – INTOCABLE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3118103"/>
            <a:ext cx="5486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2F2F2"/>
                </a:solidFill>
              </a:rPr>
              <a:t>▸  Zona B (40%): Mensaje compartido Super + Trululu Nanos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3328415"/>
            <a:ext cx="5486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2F2F2"/>
                </a:solidFill>
              </a:rPr>
              <a:t>▸  Zona C (30%): Creatividad Trululu Nanos con llamada a la acción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3538727"/>
            <a:ext cx="5486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2F2F2"/>
                </a:solidFill>
              </a:rPr>
              <a:t>▸  Colores Super no deben opacar los colores institucionales del cliente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35040" y="3858768"/>
            <a:ext cx="5760720" cy="1234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44768" y="3913631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✅ FLUJO DE APROBACIÓN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72200" y="4206240"/>
            <a:ext cx="5486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2F2F2"/>
                </a:solidFill>
              </a:rPr>
              <a:t>▸  Arte preliminar → Revisión interna Trade Mktg (48h)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72200" y="4416552"/>
            <a:ext cx="5486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2F2F2"/>
                </a:solidFill>
              </a:rPr>
              <a:t>▸  Arte aprobado → Presentación al cliente mayorista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72200" y="4626864"/>
            <a:ext cx="5486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2F2F2"/>
                </a:solidFill>
              </a:rPr>
              <a:t>▸  Cliente aprueba (firma) → Orden de producción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72200" y="4837176"/>
            <a:ext cx="5486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2F2F2"/>
                </a:solidFill>
              </a:rPr>
              <a:t>▸  Arte rechazado → Máx. 1 revisión adicional con cambios puntales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35040" y="5157216"/>
            <a:ext cx="5760720" cy="1234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44768" y="521207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📌 GUÍA CREATIVA IRRENUNCIABLE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72200" y="5504688"/>
            <a:ext cx="5486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2F2F2"/>
                </a:solidFill>
              </a:rPr>
              <a:t>▸  Logo Trululu Nanos: tamaño mínimo 15% del área total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72200" y="5715000"/>
            <a:ext cx="5486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2F2F2"/>
                </a:solidFill>
              </a:rPr>
              <a:t>▸  Claim de campaña vigente siempre presente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72200" y="5925312"/>
            <a:ext cx="5486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2F2F2"/>
                </a:solidFill>
              </a:rPr>
              <a:t>▸  Fotografía de producto real en alta resolución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72200" y="6135624"/>
            <a:ext cx="5486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2F2F2"/>
                </a:solidFill>
              </a:rPr>
              <a:t>▸  No usar fondos oscuros en exterior (baja legibilidad)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</a:rPr>
              <a:t>Super de Alimentos  |  Assessment Trade Marketing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731520"/>
            <a:ext cx="2011680" cy="201168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2011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822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D700"/>
                </a:solidFill>
              </a:rPr>
              <a:t>CASO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234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PLAN DE INCENTIVOS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9659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D700"/>
                </a:solidFill>
              </a:rPr>
              <a:t>HONDURAS  🇭🇳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2560320"/>
            <a:ext cx="8961120" cy="4572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2697480"/>
            <a:ext cx="8961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2F2F2"/>
                </a:solidFill>
              </a:rPr>
              <a:t>Consolidar, analizar y autorizar pagos de incentivos mensuales
con múltiples distribuidores y bases de datos heterogéneas.
Crear un concepto con identidad y mística para el plan.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4114800"/>
            <a:ext cx="201168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41605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4663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300"/>
                </a:solidFill>
              </a:rPr>
              <a:t>Consolidación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0" y="4114800"/>
            <a:ext cx="201168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41605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4663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300"/>
                </a:solidFill>
              </a:rPr>
              <a:t>Validación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4114800"/>
            <a:ext cx="201168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41605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4663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300"/>
                </a:solidFill>
              </a:rPr>
              <a:t>Pago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09760" y="4114800"/>
            <a:ext cx="201168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0" y="41605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4663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300"/>
                </a:solidFill>
              </a:rPr>
              <a:t>Concepto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</a:rPr>
              <a:t>Super de Alimentos  |  Assessment Trade Marketing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CASO 02  |  PASO A PASO: CONSOLIDACIÓN Y AUTORIZACIÓN DE PAGOS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58368"/>
            <a:ext cx="114300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777240"/>
            <a:ext cx="5760720" cy="1783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" y="850392"/>
            <a:ext cx="347472" cy="347472"/>
          </a:xfrm>
          <a:prstGeom prst="rect">
            <a:avLst/>
          </a:prstGeom>
          <a:solidFill>
            <a:srgbClr val="C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832103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850392"/>
            <a:ext cx="5166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300"/>
                </a:solidFill>
              </a:rPr>
              <a:t>RECEPCIÓN DE BBDD DE DISTRIBUIDORES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252728"/>
            <a:ext cx="5532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2F2F2"/>
                </a:solidFill>
              </a:rPr>
              <a:t>Fecha límite: día 3 del mes siguiente. Cada distribuidor envía su reporte en el formato que usa (Excel, PDF, correo). Se crea carpeta digital por distribuidor y mes. Se acusa recibo y se inicia revisión de completitud.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79192"/>
            <a:ext cx="5760720" cy="1783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" y="2752344"/>
            <a:ext cx="347472" cy="347472"/>
          </a:xfrm>
          <a:prstGeom prst="rect">
            <a:avLst/>
          </a:prstGeom>
          <a:solidFill>
            <a:srgbClr val="C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273405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2752344"/>
            <a:ext cx="5166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300"/>
                </a:solidFill>
              </a:rPr>
              <a:t>CRUCE CON FUENTE INTERNA DE VENTAS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3154680"/>
            <a:ext cx="5532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2F2F2"/>
                </a:solidFill>
              </a:rPr>
              <a:t>Cruzar cobertura reportada vs facturación real de Trululu Nanos registrada en el sistema de Super por zona/ruta. Identificar discrepancias &gt; 10% para auditoría. En caso de distribuidores con inconsistencias reiteradas: aplicar criterio de exclusión.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581144"/>
            <a:ext cx="5760720" cy="1783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" y="4654296"/>
            <a:ext cx="347472" cy="347472"/>
          </a:xfrm>
          <a:prstGeom prst="rect">
            <a:avLst/>
          </a:prstGeom>
          <a:solidFill>
            <a:srgbClr val="C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4636007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4654296"/>
            <a:ext cx="5166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300"/>
                </a:solidFill>
              </a:rPr>
              <a:t>CÁLCULO DE INCENTIVOS Y PREAPROBACIÓN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5056631"/>
            <a:ext cx="5532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2F2F2"/>
                </a:solidFill>
              </a:rPr>
              <a:t>Aplicar fórmula: cobertura alcanzada / meta = % cumplimiento → tabla de incentivos escalonada. Trade Marketing genera informe de preaprobación con monto por vendedor. Ejecutivos comerciales revisan y firman digitalmente.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777240"/>
            <a:ext cx="5760720" cy="1783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73952" y="850392"/>
            <a:ext cx="347472" cy="347472"/>
          </a:xfrm>
          <a:prstGeom prst="rect">
            <a:avLst/>
          </a:prstGeom>
          <a:solidFill>
            <a:srgbClr val="C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832103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6288" y="850392"/>
            <a:ext cx="5166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300"/>
                </a:solidFill>
              </a:rPr>
              <a:t>ESTANDARIZACIÓN A PLANTILLA MAESTRA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1252728"/>
            <a:ext cx="5532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2F2F2"/>
                </a:solidFill>
              </a:rPr>
              <a:t>Transformar cada BBDD al formato único de Super (campos mínimos requeridos). Usar Power Query o macro Excel para automatizar mapeo de columnas. Distribuidores con reporte incompleto reciben aviso formal con plazo de corrección de 24h.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679192"/>
            <a:ext cx="5760720" cy="1783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73952" y="2752344"/>
            <a:ext cx="347472" cy="347472"/>
          </a:xfrm>
          <a:prstGeom prst="rect">
            <a:avLst/>
          </a:prstGeom>
          <a:solidFill>
            <a:srgbClr val="C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273405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76288" y="2752344"/>
            <a:ext cx="5166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300"/>
                </a:solidFill>
              </a:rPr>
              <a:t>VALIDACIÓN DE EVIDENCIAS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3154680"/>
            <a:ext cx="5532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2F2F2"/>
                </a:solidFill>
              </a:rPr>
              <a:t>Revisar fotografías o registros GPS de visitas (si el plan las exige). Mercaderistas de campo confirman muestra de tiendas por ruta. Validación de al menos 20% de los puntos reportados por distribuidor por mes.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581144"/>
            <a:ext cx="5760720" cy="1783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73952" y="4654296"/>
            <a:ext cx="347472" cy="347472"/>
          </a:xfrm>
          <a:prstGeom prst="rect">
            <a:avLst/>
          </a:prstGeom>
          <a:solidFill>
            <a:srgbClr val="C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73952" y="4636007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76288" y="4654296"/>
            <a:ext cx="5166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300"/>
                </a:solidFill>
              </a:rPr>
              <a:t>AUTORIZACIÓN FINAL Y PAGO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0528" y="5056631"/>
            <a:ext cx="5532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2F2F2"/>
                </a:solidFill>
              </a:rPr>
              <a:t>Gerente Comercial Honduras + Gerente Trade Marketing autorizan. Orden de pago enviada a finanzas con respaldo documental completo. Fecha de pago: máximo día 15 del mes. Notificación individual a cada vendedor ganador.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</a:rPr>
              <a:t>Super de Alimentos  |  Assessment Trade Marketing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CASO 02  |  CAMPOS MÍNIMOS PARA BASE DE DATOS ÓPTIMA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58368"/>
            <a:ext cx="114300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822960"/>
            <a:ext cx="3749039" cy="384048"/>
          </a:xfrm>
          <a:prstGeom prst="rect">
            <a:avLst/>
          </a:prstGeom>
          <a:solidFill>
            <a:srgbClr val="C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👤 IDENTIFICACIÓN DEL VENDEDOR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98448"/>
            <a:ext cx="3749039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408176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0020"/>
                </a:solidFill>
              </a:rPr>
              <a:t> 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463039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2F2F2"/>
                </a:solidFill>
              </a:rPr>
              <a:t>ID / Cédula del vendedor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048255"/>
            <a:ext cx="3749039" cy="658368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157984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0020"/>
                </a:solidFill>
              </a:rPr>
              <a:t> 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212848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2F2F2"/>
                </a:solidFill>
              </a:rPr>
              <a:t>Nombre completo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798063"/>
            <a:ext cx="3749039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907791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0020"/>
                </a:solidFill>
              </a:rPr>
              <a:t> 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962656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2F2F2"/>
                </a:solidFill>
              </a:rPr>
              <a:t>Distribuidor al que pertenece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547872"/>
            <a:ext cx="3749039" cy="658368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65760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0020"/>
                </a:solidFill>
              </a:rPr>
              <a:t>  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712463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2F2F2"/>
                </a:solidFill>
              </a:rPr>
              <a:t>Zona / Ruta asignada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297679"/>
            <a:ext cx="3749039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407407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0020"/>
                </a:solidFill>
              </a:rPr>
              <a:t>  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462271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2F2F2"/>
                </a:solidFill>
              </a:rPr>
              <a:t>Teléfono de contacto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047488"/>
            <a:ext cx="3749039" cy="658368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5157216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0020"/>
                </a:solidFill>
              </a:rPr>
              <a:t>  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12079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2F2F2"/>
                </a:solidFill>
              </a:rPr>
              <a:t>Cuenta bancaria / método de pago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822960"/>
            <a:ext cx="3749039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82296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📦 EJECUCIÓN EN CAMPO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1298448"/>
            <a:ext cx="3749039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43400" y="1408176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  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1463039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2F2F2"/>
                </a:solidFill>
              </a:rPr>
              <a:t>N.º de tiendas en ruta (universo)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2048255"/>
            <a:ext cx="3749039" cy="658368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43400" y="2157984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  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0600" y="2212848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2F2F2"/>
                </a:solidFill>
              </a:rPr>
              <a:t>N.º de tiendas visitadas en el mes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2798063"/>
            <a:ext cx="3749039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43400" y="2907791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  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00600" y="2962656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2F2F2"/>
                </a:solidFill>
              </a:rPr>
              <a:t>N.º de tiendas con venta de Trululu Nanos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97680" y="3547872"/>
            <a:ext cx="3749039" cy="658368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43400" y="365760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  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00600" y="3712463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2F2F2"/>
                </a:solidFill>
              </a:rPr>
              <a:t>Unidades vendidas de Trululu Nanos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97680" y="4297679"/>
            <a:ext cx="3749039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43400" y="4407407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  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00600" y="4462271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2F2F2"/>
                </a:solidFill>
              </a:rPr>
              <a:t>Foto/evidencia de tiendas cubiertas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97680" y="5047488"/>
            <a:ext cx="3749039" cy="658368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43400" y="5157216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  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00600" y="5212079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2F2F2"/>
                </a:solidFill>
              </a:rPr>
              <a:t>Fecha de visita por tienda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0" y="822960"/>
            <a:ext cx="3749039" cy="38404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21040" y="82296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📊 CÁLCULO DE INCENTIVO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600" y="1298448"/>
            <a:ext cx="3749039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75320" y="1408176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D6A0"/>
                </a:solidFill>
              </a:rPr>
              <a:t>  01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32520" y="1463039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2F2F2"/>
                </a:solidFill>
              </a:rPr>
              <a:t>Meta de cobertura mensual (%)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0" y="2048255"/>
            <a:ext cx="3749039" cy="658368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75320" y="2157984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D6A0"/>
                </a:solidFill>
              </a:rPr>
              <a:t>  02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32520" y="2212848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2F2F2"/>
                </a:solidFill>
              </a:rPr>
              <a:t>% de cobertura alcanzada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29600" y="2798063"/>
            <a:ext cx="3749039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75320" y="2907791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D6A0"/>
                </a:solidFill>
              </a:rPr>
              <a:t>  03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32520" y="2962656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2F2F2"/>
                </a:solidFill>
              </a:rPr>
              <a:t>Monto base del incentivo (tabla)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29600" y="3547872"/>
            <a:ext cx="3749039" cy="658368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75320" y="365760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D6A0"/>
                </a:solidFill>
              </a:rPr>
              <a:t>  04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32520" y="3712463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2F2F2"/>
                </a:solidFill>
              </a:rPr>
              <a:t>Factor de cumplimiento aplicado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29600" y="4297679"/>
            <a:ext cx="3749039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75320" y="4407407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D6A0"/>
                </a:solidFill>
              </a:rPr>
              <a:t>  05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32520" y="4462271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2F2F2"/>
                </a:solidFill>
              </a:rPr>
              <a:t>Monto a pagar calculado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229600" y="5047488"/>
            <a:ext cx="3749039" cy="658368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75320" y="5157216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D6A0"/>
                </a:solidFill>
              </a:rPr>
              <a:t>  06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732520" y="5212079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2F2F2"/>
                </a:solidFill>
              </a:rPr>
              <a:t>Estado: Aprobado / Rechazado / Pendiente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5870448"/>
            <a:ext cx="11430000" cy="594360"/>
          </a:xfrm>
          <a:prstGeom prst="rect">
            <a:avLst/>
          </a:prstGeom>
          <a:solidFill>
            <a:srgbClr val="22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2920" y="5907024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FFC300"/>
                </a:solidFill>
              </a:rPr>
              <a:t>⚠️  CRITERIO DE EXCLUSIÓN: Distribuidores con &gt; 2 meses consecutivos de datos incompletos, inconsistencias vs facturación superior al 20%, o cobertura sostenida &lt; 40% de la meta serán removidos del plan previa notificación formal.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</a:rPr>
              <a:t>Super de Alimentos  |  Assessment Trade Marketing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CASO 02  |  CONCEPTO E IDENTIDAD DEL PLAN DE INCENTIVOS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58368"/>
            <a:ext cx="114300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822960"/>
            <a:ext cx="11430000" cy="1737360"/>
          </a:xfrm>
          <a:prstGeom prst="rect">
            <a:avLst/>
          </a:prstGeom>
          <a:solidFill>
            <a:srgbClr val="0A0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822960"/>
            <a:ext cx="109728" cy="173736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</a:rPr>
              <a:t>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91440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C300"/>
                </a:solidFill>
              </a:rPr>
              <a:t>"REYES DE LA RUTA"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508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2F2F2"/>
                </a:solidFill>
              </a:rPr>
              <a:t>Plan de Incentivos Trululu Nanos  |  Honduras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9202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CCCCCC"/>
                </a:solidFill>
              </a:rPr>
              <a:t>Cada vendedor que conquiste su ruta y lleve Trululu Nanos a más tiendas
demuestra que es el Rey de su territorio. Los mejores son coronados cada mes.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743200"/>
            <a:ext cx="5577840" cy="17190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743200"/>
            <a:ext cx="5577840" cy="347472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779776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🎯 NOMBRE DEL 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182112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F2F2"/>
                </a:solidFill>
              </a:rPr>
              <a:t>"REYES DE LA RUTA"
Refuerza el dominio territorial, la conquista de cobertura y el orgullo del vendedor hondureño.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743200"/>
            <a:ext cx="5577840" cy="17190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743200"/>
            <a:ext cx="557784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2779776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👑 EVENTO MENSUAL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182112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F2F2"/>
                </a:solidFill>
              </a:rPr>
              <a:t>"CORONACIÓN REYES DE LA RUTA"
Reunión mensual donde se entregan bonos a ganadores. Solo los vendedores con ≥85% de cobertura acceden.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617720"/>
            <a:ext cx="5577840" cy="17190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617720"/>
            <a:ext cx="5577840" cy="34747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4654296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🏅 NIVELES DE RECONOCIMIENTO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056631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F2F2"/>
                </a:solidFill>
              </a:rPr>
              <a:t>🥉 Rey de Bronce (70-84%)
🥈 Rey de Plata (85-94%)
🥇 Rey de Oro (95-100%+)
Cada nivel tiene bono diferenciado y beneficio adicional.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617720"/>
            <a:ext cx="5577840" cy="17190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4617720"/>
            <a:ext cx="5577840" cy="347472"/>
          </a:xfrm>
          <a:prstGeom prst="rect">
            <a:avLst/>
          </a:prstGeom>
          <a:solidFill>
            <a:srgbClr val="C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4654296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📱 COMUNICACIÓN MENSUAL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5056631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F2F2"/>
                </a:solidFill>
              </a:rPr>
              <a:t>WhatsApp grupal por distribuidor con ranking semanal. Imagen de 'Rey del Mes' enviada a todos los vendedores. Top 3 publicados en el grupo corporativo del equipo.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</a:rPr>
              <a:t>Super de Alimentos  |  Assessment Trade Marketing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731520"/>
            <a:ext cx="2011680" cy="20116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2011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822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D700"/>
                </a:solidFill>
              </a:rPr>
              <a:t>CASO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234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OFERTA DE CODIFICACIÓN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96596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700"/>
                </a:solidFill>
              </a:rPr>
              <a:t>TRULULU NANOS — EDICIÓN ESTELAR  🇪🇨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2560320"/>
            <a:ext cx="8961120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2697480"/>
            <a:ext cx="8961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2F2F2"/>
                </a:solidFill>
              </a:rPr>
              <a:t>Construir una oferta irresistible para que los tenderos de Ecuador
codifiquen la nueva referencia, activándola a través de los 785
vendedores del distribuidor nacional.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4114800"/>
            <a:ext cx="201168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41605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4663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300"/>
                </a:solidFill>
              </a:rPr>
              <a:t>La Oferta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0" y="4114800"/>
            <a:ext cx="201168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41605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4663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300"/>
                </a:solidFill>
              </a:rPr>
              <a:t>Activación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4114800"/>
            <a:ext cx="201168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41605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4663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300"/>
                </a:solidFill>
              </a:rPr>
              <a:t>Escalada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09760" y="4114800"/>
            <a:ext cx="201168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0" y="41605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4663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300"/>
                </a:solidFill>
              </a:rPr>
              <a:t>KPIs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</a:rPr>
              <a:t>Super de Alimentos  |  Assessment Trade Marketing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CASO 03  |  CONFIGURACIÓN DE LA OFERTA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58368"/>
            <a:ext cx="114300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822960"/>
            <a:ext cx="11430000" cy="347472"/>
          </a:xfrm>
          <a:prstGeom prst="rect">
            <a:avLst/>
          </a:prstGeom>
          <a:solidFill>
            <a:srgbClr val="063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3210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300"/>
                </a:solidFill>
              </a:rPr>
              <a:t>🌟  OFERTA DE LANZAMIENTO:  "CODIFICA LA ESTRELLA"  —  Edición Estelar Trululu Nanos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98448"/>
            <a:ext cx="3749039" cy="34747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🎯 PEDIDO MÍNIMO DE CODIFICACIÓN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37360"/>
            <a:ext cx="3749039" cy="548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2F2F2"/>
                </a:solidFill>
              </a:rPr>
              <a:t>▸  Pack de entrada: 2 display × 24 und = 48 unidades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59152"/>
            <a:ext cx="3749039" cy="548640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2414016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2F2F2"/>
                </a:solidFill>
              </a:rPr>
              <a:t>▸  Precio especial de lanzamiento: 12% dcto vs precio regular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980944"/>
            <a:ext cx="3749039" cy="548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3035808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2F2F2"/>
                </a:solidFill>
              </a:rPr>
              <a:t>▸  Válido solo para primera compra de la referencia nueva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602736"/>
            <a:ext cx="3749039" cy="548640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365760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2F2F2"/>
                </a:solidFill>
              </a:rPr>
              <a:t>▸  Sin costo de exhibidor de sobremesa para los primeros 200 tenderos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1298448"/>
            <a:ext cx="3749039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1325880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🎁 BENEFICIO DIRECTO AL TENDERO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1737360"/>
            <a:ext cx="3749039" cy="548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07408" y="1792224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2F2F2"/>
                </a:solidFill>
              </a:rPr>
              <a:t>▸  Por cada 48 und compradas → 4 und GRATIS (bonificación 1×12)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2359152"/>
            <a:ext cx="3749039" cy="548640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07408" y="2414016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2F2F2"/>
                </a:solidFill>
              </a:rPr>
              <a:t>▸  Sticker de 'Punto de Venta Oficial Edición Estelar' para vitrina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2980944"/>
            <a:ext cx="3749039" cy="548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07408" y="3035808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2F2F2"/>
                </a:solidFill>
              </a:rPr>
              <a:t>▸  Entrada al sorteo mensual: tablet o televisor para el mejor codificador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3602736"/>
            <a:ext cx="3749039" cy="548640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07408" y="365760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2F2F2"/>
                </a:solidFill>
              </a:rPr>
              <a:t>▸  Acceso a combos promocionales exclusivos del mes de lanzamiento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1298448"/>
            <a:ext cx="3749039" cy="347472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1325880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🚀 ACELERADOR DE RECOMPRA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1737360"/>
            <a:ext cx="3749039" cy="548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39327" y="1792224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2F2F2"/>
                </a:solidFill>
              </a:rPr>
              <a:t>▸  Si el tendero repone antes de 15 días: 5% dcto adicional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2359152"/>
            <a:ext cx="3749039" cy="548640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39327" y="2414016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2F2F2"/>
                </a:solidFill>
              </a:rPr>
              <a:t>▸  Si mantiene exhibición activa al mes siguiente: bono en producto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2980944"/>
            <a:ext cx="3749039" cy="548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39327" y="3035808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2F2F2"/>
                </a:solidFill>
              </a:rPr>
              <a:t>▸  Programa 'Estrella Constante': tendero con 3 compras seguidas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3602736"/>
            <a:ext cx="3749039" cy="548640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7" y="365760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2F2F2"/>
                </a:solidFill>
              </a:rPr>
              <a:t>▸  recibe material POP personalizado con nombre de su negocio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760720"/>
            <a:ext cx="11430000" cy="685800"/>
          </a:xfrm>
          <a:prstGeom prst="rect">
            <a:avLst/>
          </a:prstGeom>
          <a:solidFill>
            <a:srgbClr val="031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5760" y="5760720"/>
            <a:ext cx="91440" cy="6858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5797296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6D6A0"/>
                </a:solidFill>
              </a:rPr>
              <a:t>💡  ARGUMENTO ANCLA PARA EL TENDERO: "Edición Estelar es la versión más especial de Trululu Nanos del año. Tus clientes ya conocen Trululu — esta referencia nueva viene con más sabor y empaque coleccionable. Si la tienes, ellos la compran. Si no la tienes, van a otra tienda."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</a:rPr>
              <a:t>Super de Alimentos  |  Assessment Trade Marketing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CASO 03  |  ESTRATEGIA DE ACTIVACIÓN: 785 VENDEDORES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58368"/>
            <a:ext cx="114300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777240"/>
            <a:ext cx="5669280" cy="2606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777240"/>
            <a:ext cx="5669280" cy="411480"/>
          </a:xfrm>
          <a:prstGeom prst="rect">
            <a:avLst/>
          </a:prstGeom>
          <a:solidFill>
            <a:srgbClr val="C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832103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832103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🤝  LANZAMIENTO CON LA CÚPULA DEL DISTRIBUIDOR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307592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F2F2"/>
                </a:solidFill>
              </a:rPr>
              <a:t>▸  Reunión presencial (o virtual) con Gerencia y Jefatura de Ventas del distribuidor.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56231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F2F2"/>
                </a:solidFill>
              </a:rPr>
              <a:t>▸  Presentar la oferta, los márgenes del tendero y el plan de incentivos para sus vendedores.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404872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F2F2"/>
                </a:solidFill>
              </a:rPr>
              <a:t>▸  Entregar: kit de lanzamiento, calculadora de margen, muestra del producto.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777240"/>
            <a:ext cx="5669280" cy="2606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777240"/>
            <a:ext cx="566928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832103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PASO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832103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📚  CAPACITACIÓN MASIVA A LOS 785 VENDEDORES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307592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F2F2"/>
                </a:solidFill>
              </a:rPr>
              <a:t>▸  Sesión virtual/presencial por zona (dividir en grupos de ~100 vendedores).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856231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F2F2"/>
                </a:solidFill>
              </a:rPr>
              <a:t>▸  Duración: 30 min. Contenido: ¿qué es Edición Estelar?, argumentario de ventas,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404872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F2F2"/>
                </a:solidFill>
              </a:rPr>
              <a:t>▸  cómo ejecutar la oferta en tienda y cómo ganar el bono.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566160"/>
            <a:ext cx="5669280" cy="2606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566160"/>
            <a:ext cx="5669280" cy="4114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362102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PASO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362102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💼  KIT DEL VENDEDOR + INCENTIVO PROPIO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096511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F2F2"/>
                </a:solidFill>
              </a:rPr>
              <a:t>▸  Cada vendedor recibe: muestra del producto, flyer A6 para entregar al tendero,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645151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F2F2"/>
                </a:solidFill>
              </a:rPr>
              <a:t>▸  QR con video del producto. BONO VENDEDOR: $X por cada tienda nueva que codifique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193792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F2F2"/>
                </a:solidFill>
              </a:rPr>
              <a:t>▸  Edición Estelar en las primeras 4 semanas (bono escalonado según volumen).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3566160"/>
            <a:ext cx="5669280" cy="2606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3566160"/>
            <a:ext cx="5669280" cy="41148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362102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PASO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3368" y="362102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📊  SEGUIMIENTO SEMANAL Y RANKING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096511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F2F2"/>
                </a:solidFill>
              </a:rPr>
              <a:t>▸  Dashboard compartido con el distribuidor: codificaciones por vendedor/ruta/zona.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645151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F2F2"/>
                </a:solidFill>
              </a:rPr>
              <a:t>▸  Ranking semanal enviado por WhatsApp al grupo de ventas del distribuidor.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193792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F2F2"/>
                </a:solidFill>
              </a:rPr>
              <a:t>▸  Semana 4: cierre del período de bono de lanzamiento y reconocimiento al Top 10.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</a:rPr>
              <a:t>Super de Alimentos  |  Assessment Trade Marketing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RESUMEN EJECUTIVO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4712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16642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502920" cy="1664208"/>
          </a:xfrm>
          <a:prstGeom prst="rect">
            <a:avLst/>
          </a:prstGeom>
          <a:solidFill>
            <a:srgbClr val="C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06984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0020"/>
                </a:solidFill>
              </a:rPr>
              <a:t>BRANDING MAYORISTAS ECUADOR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46304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F2F2"/>
                </a:solidFill>
              </a:rPr>
              <a:t>✓  6 pasos: diagnóstico → negociación → brief diseño → producción → instalación → auditoría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73736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F2F2"/>
                </a:solidFill>
              </a:rPr>
              <a:t>✓  Co-branding: 30% cliente / 40% compartido / 30% Trululu — sin afectar identidad del mayorista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1168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F2F2"/>
                </a:solidFill>
              </a:rPr>
              <a:t>✓  Flujo de aprobación en 2 etapas con firma del cliente antes de producir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28600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F2F2"/>
                </a:solidFill>
              </a:rPr>
              <a:t>✓  KPI mensual: % de puntos en condición óptima vs total instalado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88920"/>
            <a:ext cx="11430000" cy="16642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788920"/>
            <a:ext cx="502920" cy="1664208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24612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89864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BAA"/>
                </a:solidFill>
              </a:rPr>
              <a:t>PLAN DE INCENTIVOS HONDURAS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291839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F2F2"/>
                </a:solidFill>
              </a:rPr>
              <a:t>✓  6 pasos: recepción → estandarización → cruce fuente interna → validación → cálculo → pago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566159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F2F2"/>
                </a:solidFill>
              </a:rPr>
              <a:t>✓  18 campos mínimos distribuidos en 3 categorías: identificación, ejecución y cálculo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40479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F2F2"/>
                </a:solidFill>
              </a:rPr>
              <a:t>✓  Concepto 'REYES DE LA RUTA': 3 niveles (Bronce / Plata / Oro), coronación mensual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11480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F2F2"/>
                </a:solidFill>
              </a:rPr>
              <a:t>✓  Exclusión automática: &gt;2 meses inconsistentes O cobertura sostenida &lt;40% de la meta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617720"/>
            <a:ext cx="11430000" cy="16642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617720"/>
            <a:ext cx="502920" cy="166420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507492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72744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OFERTA EDICIÓN ESTELAR ECUADOR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12064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F2F2"/>
                </a:solidFill>
              </a:rPr>
              <a:t>✓  Oferta 3 pilares: codificación (2 displays + 12% dcto), bonificación (1×12 + POP) y recompra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394959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F2F2"/>
                </a:solidFill>
              </a:rPr>
              <a:t>✓  4 pasos para activar a 785 vendedores: lanzamiento cúpula → capacitación → kit+bono → ranking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669279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F2F2"/>
                </a:solidFill>
              </a:rPr>
              <a:t>✓  Argumento ancla: TOM de Trululu ya conquistado; Edición Estelar = edición coleccionable urgente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94360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2F2F2"/>
                </a:solidFill>
              </a:rPr>
              <a:t>✓  Seguimiento semanal con dashboard compartido con el distribuidor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5105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FFD700"/>
                </a:solidFill>
              </a:rPr>
              <a:t>"La estrategia sin ejecución es una ilusión. La ejecución sin estrategia es caos. Trade Marketing alinea ambas."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