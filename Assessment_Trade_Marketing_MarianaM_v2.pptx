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4B4B4"/>
                </a:solidFill>
              </a:rPr>
              <a:t>SUPER DE ALIMENTOS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ASSESSMENT</a:t>
            </a:r>
          </a:p>
          <a:p>
            <a:pPr algn="l"/>
            <a:r>
              <a:rPr sz="6000" b="0" i="0">
                <a:solidFill>
                  <a:srgbClr val="B4B4B4"/>
                </a:solidFill>
              </a:rPr>
              <a:t>ANALISTA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AAFF00"/>
                </a:solidFill>
              </a:rPr>
              <a:t>TRADE MARKETING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474720"/>
            <a:ext cx="5943600" cy="2286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4B4B4"/>
                </a:solidFill>
              </a:rPr>
              <a:t>Estrategia &amp; Ejecución para  Ecuador  ·  Honduras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093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Mayo 2026  |  Mariana Montejo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457200"/>
            <a:ext cx="3474720" cy="1783080"/>
          </a:xfrm>
          <a:prstGeom prst="roundRect">
            <a:avLst>
              <a:gd name="adj" fmla="val 2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7072" y="621792"/>
            <a:ext cx="3145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</a:rPr>
              <a:t>CASO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1005840"/>
            <a:ext cx="3145536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BRANDING EN
MAYORISTAS  🇪🇨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5669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1C1C"/>
                </a:solidFill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2468880"/>
            <a:ext cx="3474720" cy="1783080"/>
          </a:xfrm>
          <a:prstGeom prst="roundRect">
            <a:avLst>
              <a:gd name="adj" fmla="val 2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2633472"/>
            <a:ext cx="3145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</a:rPr>
              <a:t>CASO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3017520"/>
            <a:ext cx="3145536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PLAN DE
INCENTIVOS  🇭🇳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578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1C1C"/>
                </a:solidFill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4480560"/>
            <a:ext cx="3474720" cy="1783080"/>
          </a:xfrm>
          <a:prstGeom prst="roundRect">
            <a:avLst>
              <a:gd name="adj" fmla="val 2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4645152"/>
            <a:ext cx="3145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</a:rPr>
              <a:t>CASO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5029200"/>
            <a:ext cx="3145536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OFERTA
EDICIÓN ESTELAR  🇪🇨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59028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1C1C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B4B4"/>
                </a:solidFill>
              </a:rPr>
              <a:t>Super de Alimentos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8632" y="15544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4B4B4"/>
                </a:solidFill>
              </a:rPr>
              <a:t>Mayo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93776"/>
            <a:ext cx="11365992" cy="16459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503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Contexto 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11503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B4B4B4"/>
                </a:solidFill>
              </a:rPr>
              <a:t>Mercado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6199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61813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</a:rPr>
              <a:t>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530584" y="6199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30584" y="61813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874519"/>
            <a:ext cx="5394960" cy="4434840"/>
          </a:xfrm>
          <a:prstGeom prst="roundRect">
            <a:avLst>
              <a:gd name="adj" fmla="val 22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9933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</a:rPr>
              <a:t>🇪🇨  ECUADOR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423160"/>
            <a:ext cx="5029200" cy="16459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560320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ESTRUCTURA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2816352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111"/>
                </a:solidFill>
              </a:rPr>
              <a:t>1 Gerente · 1 Ejecutivo · 1 Formador · 15 Mercaderistas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07238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111"/>
                </a:solidFill>
              </a:rPr>
              <a:t>Dirección comercial en Quito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328416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111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343814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CANAL &amp; MARCAS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3694176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111"/>
                </a:solidFill>
              </a:rPr>
              <a:t>Trululu lidera TOM de la categoría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3950208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111"/>
                </a:solidFill>
              </a:rPr>
              <a:t>80 % del volumen concentrado en mayoristas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4206240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111"/>
                </a:solidFill>
              </a:rPr>
              <a:t>Top SKU: Bianchi · OkaLoka · 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4462272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111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4572000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TRADE ACTUAL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4828032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111"/>
                </a:solidFill>
              </a:rPr>
              <a:t>Plan incentivos con distribuidor único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08406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111"/>
                </a:solidFill>
              </a:rPr>
              <a:t>Branding de avisos en galerías mayoristas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5340096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111"/>
                </a:solidFill>
              </a:rPr>
              <a:t>Exhibidores Trululu en punto de venta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874519"/>
            <a:ext cx="5394960" cy="4434840"/>
          </a:xfrm>
          <a:prstGeom prst="roundRect">
            <a:avLst>
              <a:gd name="adj" fmla="val 22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9933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🇭🇳  HONDURAS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423160"/>
            <a:ext cx="5029200" cy="1645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2560320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ESTRUCTURA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9672" y="2816352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1 Gerente (Colombia) · 2 Ejecutivos · 7 Mercaderistas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9672" y="307238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SPS · Tegucigalpa · Ciudades principales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9672" y="3328416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9672" y="343814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CANAL &amp; MARCAS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9672" y="3694176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Gran cantidad de distribuidores tienda a tienda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9672" y="3950208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Trululu Nanos: SKU ancla del plan de incentivos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9672" y="4206240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Mercaderistas en mayoristas estratégicos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9672" y="4462272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9672" y="4572000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TRADE ACTUAL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9672" y="4828032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Incentivos 100 % basados en cobertura de tiendas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9672" y="508406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Degustaciones y combos de volumen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9672" y="5340096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Descuento 10 % por compra mín. 400 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B4B4"/>
                </a:solidFill>
              </a:rPr>
              <a:t>Super de Alimentos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8632" y="15544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4B4B4"/>
                </a:solidFill>
              </a:rPr>
              <a:t>Mayo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93776"/>
            <a:ext cx="11365992" cy="16459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6199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61813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</a:rPr>
              <a:t>◀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30584" y="6199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30584" y="61813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21792"/>
            <a:ext cx="1234440" cy="1234440"/>
          </a:xfrm>
          <a:prstGeom prst="roundRect">
            <a:avLst>
              <a:gd name="adj" fmla="val 18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40080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6583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4B4B4"/>
                </a:solidFill>
              </a:rPr>
              <a:t>CASO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987552"/>
            <a:ext cx="100401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Branding 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1719072"/>
            <a:ext cx="100401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B4B4B4"/>
                </a:solidFill>
              </a:rPr>
              <a:t>Mayoristas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19" y="2724912"/>
            <a:ext cx="9875520" cy="18288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74519" y="281635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4B4B4"/>
                </a:solidFill>
              </a:rPr>
              <a:t>Desarrollar un plan para brandear avisos principales y conseguir mínimo 2 espacios adicionales para Trululu Nanos en los mayoristas de Ecuador.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749039"/>
            <a:ext cx="2743200" cy="2423160"/>
          </a:xfrm>
          <a:prstGeom prst="roundRect">
            <a:avLst>
              <a:gd name="adj" fmla="val 22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587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11111"/>
                </a:solidFill>
              </a:rP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904487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</a:rPr>
              <a:t>Diagnóstico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246888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Mapeo de clientes
y espacios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55848" y="3749039"/>
            <a:ext cx="2743200" cy="2423160"/>
          </a:xfrm>
          <a:prstGeom prst="roundRect">
            <a:avLst>
              <a:gd name="adj" fmla="val 22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3008" y="38587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14216" y="3904487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Negociación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4389120"/>
            <a:ext cx="246888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Propuesta al
cliente mayorista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0216" y="3749039"/>
            <a:ext cx="2743200" cy="2423160"/>
          </a:xfrm>
          <a:prstGeom prst="roundRect">
            <a:avLst>
              <a:gd name="adj" fmla="val 22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38587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58584" y="3904487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Diseño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4389120"/>
            <a:ext cx="246888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Brief técnico y
co-branding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44584" y="3749039"/>
            <a:ext cx="2743200" cy="2423160"/>
          </a:xfrm>
          <a:prstGeom prst="roundRect">
            <a:avLst>
              <a:gd name="adj" fmla="val 22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81744" y="38587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02952" y="3904487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Seguimiento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81744" y="4389120"/>
            <a:ext cx="246888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Auditoría mensual
y KPIs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B4B4"/>
                </a:solidFill>
              </a:rPr>
              <a:t>Super de Alimentos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8632" y="15544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4B4B4"/>
                </a:solidFill>
              </a:rPr>
              <a:t>Mayo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93776"/>
            <a:ext cx="11365992" cy="16459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6199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61813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</a:rPr>
              <a:t>◀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30584" y="6199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30584" y="61813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94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CASO 01  ·  PASOS DE EJECUCIÓN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115568"/>
            <a:ext cx="3794760" cy="5138928"/>
          </a:xfrm>
          <a:prstGeom prst="roundRect">
            <a:avLst>
              <a:gd name="adj" fmla="val 22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2344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38528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</a:rPr>
              <a:t>DIAGNÓSTICO Y MAPEO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Levantar inventario de galerías por ciudad. Identificar los 5–8 mayoristas de mayor volumen de Super de Alimentos. Fotografiar avisos actuales, zonas de tráfico y espacios disponibles. Clasificar cada punto por potencial de visibilidad (A / B / C). Definir con el ejecutivo comercial los clientes prioritarios a intervenir.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0832" y="1115568"/>
            <a:ext cx="7406640" cy="2450592"/>
          </a:xfrm>
          <a:prstGeom prst="roundRect">
            <a:avLst>
              <a:gd name="adj" fmla="val 15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207008"/>
            <a:ext cx="502920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AFF00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1207008"/>
            <a:ext cx="6537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DEFINICIÓN DEL PLAN DE ESPACIOS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1554480"/>
            <a:ext cx="6537959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Establecer con Ejecutivo + Gerente Ecuador los espacios a intervenir: aviso principal del negocio (co-branding Trululu) + mínimo 2 puntos adicionales para Trululu Nanos (cabecera de góndola, área de caja, isla central o vitrina exterior). Priorizar zonas de mayor tránsito de tenderos compradores.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0832" y="3803904"/>
            <a:ext cx="7406640" cy="2450592"/>
          </a:xfrm>
          <a:prstGeom prst="roundRect">
            <a:avLst>
              <a:gd name="adj" fmla="val 15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3895344"/>
            <a:ext cx="502920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AFF00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3895344"/>
            <a:ext cx="6537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NEGOCIACIÓN CON EL CLIENTE MAYORISTA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6632" y="4242816"/>
            <a:ext cx="6537959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El ejecutivo comercial agenda reunión con el dueño/administrador de cada mayorista. Se presenta propuesta de valor: 'Nosotros cubrimos material e instalación; usted gana visibilidad premium en su negocio.' Se firma carta de autorización que establece ubicaciones, tiempos y compromisos de preservación.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B4B4"/>
                </a:solidFill>
              </a:rPr>
              <a:t>Super de Alimentos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8632" y="15544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4B4B4"/>
                </a:solidFill>
              </a:rPr>
              <a:t>Mayo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93776"/>
            <a:ext cx="11365992" cy="16459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6199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61813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</a:rPr>
              <a:t>◀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30584" y="6199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30584" y="61813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94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CASO 01  ·  INSTALACIÓN &amp; DIRECCIONAMIENTO AL EQUIPO DE DISEÑO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051560"/>
            <a:ext cx="3703320" cy="2331720"/>
          </a:xfrm>
          <a:prstGeom prst="roundRect">
            <a:avLst>
              <a:gd name="adj" fmla="val 20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143000"/>
            <a:ext cx="3374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1828800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BRIEF AL DISEÑO Y PRODUCCIÓN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221991"/>
            <a:ext cx="337413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Ficha técnica por cliente: medidas, material, soporte y restricciones. Diseño propone 2 opciones de arte. Flujo: revisión Trade Mktg (48 h) → aprobación del cliente (firma) → orden de producción.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051560"/>
            <a:ext cx="3703320" cy="2331720"/>
          </a:xfrm>
          <a:prstGeom prst="roundRect">
            <a:avLst>
              <a:gd name="adj" fmla="val 20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143000"/>
            <a:ext cx="3374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1828800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INSTALACIÓN Y REGISTRO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221991"/>
            <a:ext cx="337413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Instalación con mercaderistas + empresa especializada según complejidad. Registro fotográfico geo-referenciado (antes / después). Acta de recepción firmada por el cliente con compromisos de preservación.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19" y="1051560"/>
            <a:ext cx="3703320" cy="2331720"/>
          </a:xfrm>
          <a:prstGeom prst="roundRect">
            <a:avLst>
              <a:gd name="adj" fmla="val 2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9911" y="1143000"/>
            <a:ext cx="3374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11111"/>
                </a:solidFill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1" y="1828800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</a:rPr>
              <a:t>AUDITORÍA Y PRESERVACIÓN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2221991"/>
            <a:ext cx="337413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Revisión mensual por mercaderistas: estado del material, limpieza, visibilidad no obstruida. Reposición inmediata si hay daño. KPI: % de puntos en condición óptima vs total instalado.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566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FF00"/>
                </a:solidFill>
              </a:rPr>
              <a:t>▸  DIRECCIONAMIENTO AL EQUIPO DE DISEÑO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931920"/>
            <a:ext cx="11430000" cy="1645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160520"/>
            <a:ext cx="2788920" cy="2103120"/>
          </a:xfrm>
          <a:prstGeom prst="roundRect">
            <a:avLst>
              <a:gd name="adj" fmla="val 22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2702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431596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📐 BRIEF TÉCNICO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00600"/>
            <a:ext cx="251460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Dimensiones exactas · material soporte · condición ambiental · fotos actuales del espacio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55848" y="4160520"/>
            <a:ext cx="2788920" cy="2103120"/>
          </a:xfrm>
          <a:prstGeom prst="roundRect">
            <a:avLst>
              <a:gd name="adj" fmla="val 22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42702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11111"/>
                </a:solidFill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14216" y="431596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</a:rPr>
              <a:t>🎨 CONCEPTO CO-BRANDING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8" y="4800600"/>
            <a:ext cx="251460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30 % identidad del cliente (intocable) · 40 % zona compartida · 30 % marca Trululu Nanos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0216" y="4160520"/>
            <a:ext cx="2788920" cy="2103120"/>
          </a:xfrm>
          <a:prstGeom prst="roundRect">
            <a:avLst>
              <a:gd name="adj" fmla="val 22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7376" y="42702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58584" y="431596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✅ FLUJO DE APROBACIÓN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7376" y="4800600"/>
            <a:ext cx="251460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Arte → revisión interna (48 h) → aprobación con firma del cliente → producción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44584" y="4160520"/>
            <a:ext cx="2788920" cy="2103120"/>
          </a:xfrm>
          <a:prstGeom prst="roundRect">
            <a:avLst>
              <a:gd name="adj" fmla="val 22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81744" y="42702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02952" y="431596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📌 REGLAS IRRENUNCIABLES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81744" y="4800600"/>
            <a:ext cx="251460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Logo Trululu mín. 15 % del área · claim vigente · foto producto en alta 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B4B4"/>
                </a:solidFill>
              </a:rPr>
              <a:t>Super de Alimentos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8632" y="15544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4B4B4"/>
                </a:solidFill>
              </a:rPr>
              <a:t>Mayo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93776"/>
            <a:ext cx="11365992" cy="16459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6199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61813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</a:rPr>
              <a:t>◀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30584" y="6199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30584" y="61813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21792"/>
            <a:ext cx="1234440" cy="1234440"/>
          </a:xfrm>
          <a:prstGeom prst="roundRect">
            <a:avLst>
              <a:gd name="adj" fmla="val 18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40080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6583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4B4B4"/>
                </a:solidFill>
              </a:rPr>
              <a:t>CASO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987552"/>
            <a:ext cx="100401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Plan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1719072"/>
            <a:ext cx="100401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B4B4B4"/>
                </a:solidFill>
              </a:rPr>
              <a:t>Incentivos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19" y="2724912"/>
            <a:ext cx="9875520" cy="18288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74519" y="281635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4B4B4"/>
                </a:solidFill>
              </a:rPr>
              <a:t>Consolidar, analizar y autorizar pagos mensuales con múltiples distribuidores y bases de datos heterogéneas. Crear un concepto con identidad propia para Honduras.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749039"/>
            <a:ext cx="2743200" cy="2423160"/>
          </a:xfrm>
          <a:prstGeom prst="roundRect">
            <a:avLst>
              <a:gd name="adj" fmla="val 22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587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904487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Recepción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246888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BBDD de cada
distribuidor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55848" y="3749039"/>
            <a:ext cx="2743200" cy="2423160"/>
          </a:xfrm>
          <a:prstGeom prst="roundRect">
            <a:avLst>
              <a:gd name="adj" fmla="val 22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3008" y="38587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14216" y="3904487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Estandarización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4389120"/>
            <a:ext cx="246888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Plantilla única
maestra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0216" y="3749039"/>
            <a:ext cx="2743200" cy="2423160"/>
          </a:xfrm>
          <a:prstGeom prst="roundRect">
            <a:avLst>
              <a:gd name="adj" fmla="val 22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38587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58584" y="3904487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Validación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4389120"/>
            <a:ext cx="246888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Cruce vs fuente
interna Super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44584" y="3749039"/>
            <a:ext cx="2743200" cy="2423160"/>
          </a:xfrm>
          <a:prstGeom prst="roundRect">
            <a:avLst>
              <a:gd name="adj" fmla="val 22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81744" y="38587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11111"/>
                </a:solidFill>
              </a:rPr>
              <a:t>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02952" y="3904487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</a:rPr>
              <a:t>Pago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81744" y="4389120"/>
            <a:ext cx="246888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Autorización
y liquidación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B4B4"/>
                </a:solidFill>
              </a:rPr>
              <a:t>Super de Alimentos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8632" y="15544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4B4B4"/>
                </a:solidFill>
              </a:rPr>
              <a:t>Mayo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93776"/>
            <a:ext cx="11365992" cy="16459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6199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61813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</a:rPr>
              <a:t>◀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30584" y="6199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30584" y="61813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94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CASO 02  ·  PASO A PASO: CONSOLIDACIÓN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115568"/>
            <a:ext cx="3794760" cy="5138928"/>
          </a:xfrm>
          <a:prstGeom prst="roundRect">
            <a:avLst>
              <a:gd name="adj" fmla="val 22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2344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38528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</a:rPr>
              <a:t>RECEPCIÓN DE BASES DE 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Fecha límite: día 3 del mes siguiente. Cada distribuidor envía su reporte en el formato que usa (Excel, PDF, correo). Se crea carpeta digital por distribuidor y mes. Se acusa recibo formal y se revisa completitud inmediata. Distribuidores con reporte incompleto reciben aviso con plazo de corrección de 24 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0832" y="1115568"/>
            <a:ext cx="7406640" cy="2450592"/>
          </a:xfrm>
          <a:prstGeom prst="roundRect">
            <a:avLst>
              <a:gd name="adj" fmla="val 15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207008"/>
            <a:ext cx="502920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AFF00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1207008"/>
            <a:ext cx="6537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ESTANDARIZACIÓN A PLANTILLA MAESTRA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1554480"/>
            <a:ext cx="6537959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Transformar cada BBDD al formato único de Super (18 campos mínimos requeridos). Usar Power Query o macro Excel para automatizar el mapeo de columnas. Columnas faltantes → notificación al distribuidor con formulario de corrección. Validar que todos los registros tengan cédula, zona y evidencia fotográfica.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0832" y="3803904"/>
            <a:ext cx="7406640" cy="2450592"/>
          </a:xfrm>
          <a:prstGeom prst="roundRect">
            <a:avLst>
              <a:gd name="adj" fmla="val 15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3895344"/>
            <a:ext cx="502920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AFF00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3895344"/>
            <a:ext cx="6537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CRUCE CON FUENTE INTERNA DE VENTAS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6632" y="4242816"/>
            <a:ext cx="6537959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Cruzar cobertura reportada vs facturación real de Trululu Nanos registrada en el sistema de Super por zona / ruta. Marcar discrepancias &gt; 10 % para auditoría de campo. Distribuidores con inconsistencias reiteradas ingresan al proceso de exclusión.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B4B4"/>
                </a:solidFill>
              </a:rPr>
              <a:t>Super de Alimentos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8632" y="15544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4B4B4"/>
                </a:solidFill>
              </a:rPr>
              <a:t>Mayo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93776"/>
            <a:ext cx="11365992" cy="16459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6199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61813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</a:rPr>
              <a:t>◀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30584" y="6199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30584" y="61813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94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CASO 02  ·  VALIDACIÓN, CÁLCULO Y PAGO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051560"/>
            <a:ext cx="3703320" cy="2331720"/>
          </a:xfrm>
          <a:prstGeom prst="roundRect">
            <a:avLst>
              <a:gd name="adj" fmla="val 20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143000"/>
            <a:ext cx="3374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1828800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VALIDACIÓN DE EVIDENCIAS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221991"/>
            <a:ext cx="337413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Revisar fotografías o registros GPS de visitas. Mercaderistas de campo confirman muestra del 20 % de tiendas por ruta. Puntos sin evidencia no cuentan para el cálculo de incentivos.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051560"/>
            <a:ext cx="3703320" cy="2331720"/>
          </a:xfrm>
          <a:prstGeom prst="roundRect">
            <a:avLst>
              <a:gd name="adj" fmla="val 20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143000"/>
            <a:ext cx="3374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1828800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CÁLCULO Y PREAPROBACIÓN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221991"/>
            <a:ext cx="337413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Aplicar fórmula: cobertura alcanzada ÷ meta = % cumplimiento → tabla escalonada (Bronce / Plata / Oro). Informe de preaprobación con monto por vendedor. Ejecutivos comerciales revisan y firman digitalmente.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19" y="1051560"/>
            <a:ext cx="3703320" cy="2331720"/>
          </a:xfrm>
          <a:prstGeom prst="roundRect">
            <a:avLst>
              <a:gd name="adj" fmla="val 2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9911" y="1143000"/>
            <a:ext cx="33741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11111"/>
                </a:solidFill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1" y="1828800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</a:rPr>
              <a:t>AUTORIZACIÓN FINAL Y PAGO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2221991"/>
            <a:ext cx="337413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Gerente Comercial + Gerente Trade Marketing autorizan. Orden de pago enviada a Finanzas con respaldo completo. Fecha de pago: máximo día 15 del mes. Notificación individual a cada vendedor ganador.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566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FF00"/>
                </a:solidFill>
              </a:rPr>
              <a:t>▸  CAMPOS MÍNIMOS DE LA BASE DE DATOS ÓPTIMA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931920"/>
            <a:ext cx="11430000" cy="1645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160520"/>
            <a:ext cx="3703320" cy="2103120"/>
          </a:xfrm>
          <a:prstGeom prst="roundRect">
            <a:avLst>
              <a:gd name="adj" fmla="val 20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4325112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FF00"/>
                </a:solidFill>
              </a:rPr>
              <a:t>👤 IDENTIFICACIÓN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" y="4709159"/>
            <a:ext cx="3374136" cy="1444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Cédula · Nombre completo · Distribuidor · Zona/Ruta · Teléfono · Cuenta bancaria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60520"/>
            <a:ext cx="3703320" cy="2103120"/>
          </a:xfrm>
          <a:prstGeom prst="roundRect">
            <a:avLst>
              <a:gd name="adj" fmla="val 20000"/>
            </a:avLst>
          </a:prstGeom>
          <a:solidFill>
            <a:srgbClr val="333333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7992" y="4325112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📦 EJECUCIÓN EN CAMPO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4709159"/>
            <a:ext cx="3374136" cy="1444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N.º tiendas en ruta · tiendas visitadas · tiendas con venta Trululu Nanos · unidades vendidas · foto/evidencia · fecha de visita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19" y="4160520"/>
            <a:ext cx="3703320" cy="2103120"/>
          </a:xfrm>
          <a:prstGeom prst="roundRect">
            <a:avLst>
              <a:gd name="adj" fmla="val 20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9911" y="4325112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FF00"/>
                </a:solidFill>
              </a:rPr>
              <a:t>📊 CÁLCULO DE INCENTIVO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9911" y="4709159"/>
            <a:ext cx="3374136" cy="1444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Meta mensual % · % cobertura alcanzada · monto base (tabla) · factor de cumplimiento · monto a pagar · estado (Aprobado/Rechazado)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B4B4"/>
                </a:solidFill>
              </a:rPr>
              <a:t>Super de Alimentos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8632" y="15544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4B4B4"/>
                </a:solidFill>
              </a:rPr>
              <a:t>Mayo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93776"/>
            <a:ext cx="11365992" cy="16459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6199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61813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</a:rPr>
              <a:t>◀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30584" y="6199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30584" y="61813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94360"/>
            <a:ext cx="11503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"Reyes 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325880"/>
            <a:ext cx="11503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B4B4B4"/>
                </a:solidFill>
              </a:rPr>
              <a:t>la Ruta"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965960"/>
            <a:ext cx="11430000" cy="1005840"/>
          </a:xfrm>
          <a:prstGeom prst="roundRect">
            <a:avLst>
              <a:gd name="adj" fmla="val 15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299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</a:rPr>
              <a:t>🏆  PLAN DE INCENTIVOS TRULULU NANOS  ·  HONDURAS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414016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22222"/>
                </a:solidFill>
              </a:rPr>
              <a:t>Cada vendedor que conquiste su ruta demuestra que es el Rey de su territorio. Los mejores son coronados cada mes en la Coronación Reyes de la Ruta.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154680"/>
            <a:ext cx="2788920" cy="3017520"/>
          </a:xfrm>
          <a:prstGeom prst="roundRect">
            <a:avLst>
              <a:gd name="adj" fmla="val 22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644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31012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CORONACIÓN MENSUAL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94760"/>
            <a:ext cx="2514600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Reunión mensual de ganadores. Solo acceden vendedores con ≥ 85 % de cobertura. Entrega de bonos en evento especial con reconocimiento público.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55848" y="3154680"/>
            <a:ext cx="2788920" cy="3017520"/>
          </a:xfrm>
          <a:prstGeom prst="roundRect">
            <a:avLst>
              <a:gd name="adj" fmla="val 22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3008" y="32644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11111"/>
                </a:solidFill>
              </a:rPr>
              <a:t>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4216" y="331012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</a:rPr>
              <a:t>3 NIVELES DE HONOR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3794760"/>
            <a:ext cx="2514600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🥉 Rey de Bronce  70–84 %
🥈 Rey de Plata   85–94 %
🥇 Rey de Oro     95–100 %+
Cada nivel tiene bono y beneficio diferenciado.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0216" y="3154680"/>
            <a:ext cx="2788920" cy="3017520"/>
          </a:xfrm>
          <a:prstGeom prst="roundRect">
            <a:avLst>
              <a:gd name="adj" fmla="val 22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32644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8584" y="331012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COMUNICACIÓN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3794760"/>
            <a:ext cx="2514600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Ranking semanal por WhatsApp grupal por distribuidor. Imagen del 'Rey del Mes' enviada a todos. Top 3 publicados en el grupo corporativo del equipo.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44584" y="3154680"/>
            <a:ext cx="2788920" cy="3017520"/>
          </a:xfrm>
          <a:prstGeom prst="roundRect">
            <a:avLst>
              <a:gd name="adj" fmla="val 22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81744" y="32644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2952" y="331012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CRITERIO DE EXCLUSIÓN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81744" y="3794760"/>
            <a:ext cx="2514600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Se eliminan distribuidores con: &gt; 2 meses de datos incompletos, inconsistencias vs facturación &gt; 20 %, o cobertura sostenida &lt; 40 % de la meta.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B4B4"/>
                </a:solidFill>
              </a:rPr>
              <a:t>Super de Alimentos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8632" y="15544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4B4B4"/>
                </a:solidFill>
              </a:rPr>
              <a:t>Mayo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93776"/>
            <a:ext cx="11365992" cy="16459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6199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61813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</a:rPr>
              <a:t>◀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30584" y="6199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30584" y="61813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21792"/>
            <a:ext cx="1234440" cy="1234440"/>
          </a:xfrm>
          <a:prstGeom prst="roundRect">
            <a:avLst>
              <a:gd name="adj" fmla="val 18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40080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6583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4B4B4"/>
                </a:solidFill>
              </a:rPr>
              <a:t>CASO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987552"/>
            <a:ext cx="100401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Oferta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1719072"/>
            <a:ext cx="100401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B4B4B4"/>
                </a:solidFill>
              </a:rPr>
              <a:t>Codificación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19" y="2724912"/>
            <a:ext cx="9875520" cy="18288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74519" y="281635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4B4B4"/>
                </a:solidFill>
              </a:rPr>
              <a:t>Construir una oferta irresistible para que los tenderos de Ecuador codifiquen Trululu Nanos – Edición Estelar, activándola a través de los 785 vendedores del distribuidor nacional.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3611880"/>
            <a:ext cx="9875520" cy="658368"/>
          </a:xfrm>
          <a:prstGeom prst="roundRect">
            <a:avLst>
              <a:gd name="adj" fmla="val 15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3685032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</a:rPr>
              <a:t>🌟  NOMBRE DE LA CAMPAÑA:  "CODIFICA LA ESTRELLA"  —  Edición Estelar Trululu Nanos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434840"/>
            <a:ext cx="2743200" cy="2194560"/>
          </a:xfrm>
          <a:prstGeom prst="roundRect">
            <a:avLst>
              <a:gd name="adj" fmla="val 22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445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11111"/>
                </a:solidFill>
              </a:rPr>
              <a:t>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45902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</a:rPr>
              <a:t>La Oferta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74920"/>
            <a:ext cx="24688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Pack de entrada
+ descuento lanzamiento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55848" y="4434840"/>
            <a:ext cx="2743200" cy="2194560"/>
          </a:xfrm>
          <a:prstGeom prst="roundRect">
            <a:avLst>
              <a:gd name="adj" fmla="val 22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93008" y="45445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14216" y="45902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Al Tendero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3008" y="5074920"/>
            <a:ext cx="24688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Bonificación 1×12
+ POP en tienda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0216" y="4434840"/>
            <a:ext cx="2743200" cy="2194560"/>
          </a:xfrm>
          <a:prstGeom prst="roundRect">
            <a:avLst>
              <a:gd name="adj" fmla="val 22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5445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58584" y="45902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Recompra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7376" y="5074920"/>
            <a:ext cx="24688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Descuento x
reposición rápida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44584" y="4434840"/>
            <a:ext cx="2743200" cy="2194560"/>
          </a:xfrm>
          <a:prstGeom prst="roundRect">
            <a:avLst>
              <a:gd name="adj" fmla="val 22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81744" y="45445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2952" y="45902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Activación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81744" y="5074920"/>
            <a:ext cx="24688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785 vendedores
en 4 pasos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B4B4"/>
                </a:solidFill>
              </a:rPr>
              <a:t>Super de Alimentos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8632" y="15544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4B4B4"/>
                </a:solidFill>
              </a:rPr>
              <a:t>Mayo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93776"/>
            <a:ext cx="11365992" cy="16459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6199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61813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</a:rPr>
              <a:t>◀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30584" y="6199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30584" y="61813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94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CASO 03  ·  CONFIGURACIÓN DE LA OFERTA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115568"/>
            <a:ext cx="3794760" cy="5138928"/>
          </a:xfrm>
          <a:prstGeom prst="roundRect">
            <a:avLst>
              <a:gd name="adj" fmla="val 22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207008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11111"/>
                </a:solidFill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01952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</a:rPr>
              <a:t>PEDIDO MÍNIMO DE CODIFICACIÓN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• Pack de entrada: 2 display × 24 und = 48 unidades
• Precio especial de lanzamiento: 12 % descuento vs precio regular
• Válido solo para primera compra de la referencia
• Sin costo de exhibidor de sobremesa para los
  primeros 200 tenderos en codificar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0832" y="1115568"/>
            <a:ext cx="7406640" cy="2450592"/>
          </a:xfrm>
          <a:prstGeom prst="roundRect">
            <a:avLst>
              <a:gd name="adj" fmla="val 15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207008"/>
            <a:ext cx="502920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AFF00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1207008"/>
            <a:ext cx="6537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BENEFICIO DIRECTO AL TENDERO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1554480"/>
            <a:ext cx="6537959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Por cada 48 und compradas → 4 und GRATIS (bonificación 1×12). Sticker 'Punto Oficial Edición Estelar' para vitrina. Entrada al sorteo mensual: tablet o televisor para el mejor codificador. Acceso a combos promocionales exclusivos del mes de lanzamiento.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0832" y="3803904"/>
            <a:ext cx="7406640" cy="2450592"/>
          </a:xfrm>
          <a:prstGeom prst="roundRect">
            <a:avLst>
              <a:gd name="adj" fmla="val 15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3895344"/>
            <a:ext cx="502920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AFF00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3895344"/>
            <a:ext cx="6537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ACELERADOR DE RECOMPRA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6632" y="4242816"/>
            <a:ext cx="6537959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Reposición antes de 15 días → 5 % descuento adicional. Exhibición activa al mes siguiente → bono en producto. Programa 'Estrella Constante': tendero con 3 compras consecutivas recibe material POP personalizado con el nombre de su negocio.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B4B4"/>
                </a:solidFill>
              </a:rPr>
              <a:t>Super de Alimentos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8632" y="15544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4B4B4"/>
                </a:solidFill>
              </a:rPr>
              <a:t>Mayo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93776"/>
            <a:ext cx="11365992" cy="16459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6199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61813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</a:rPr>
              <a:t>◀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30584" y="6199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30584" y="61813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94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CASO 03  ·  ESTRATEGIA DE ACTIVACIÓN: 785 VENDEDORES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051560"/>
            <a:ext cx="5577840" cy="2606040"/>
          </a:xfrm>
          <a:prstGeom prst="roundRect">
            <a:avLst>
              <a:gd name="adj" fmla="val 2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143000"/>
            <a:ext cx="524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1828800"/>
            <a:ext cx="524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</a:rPr>
              <a:t>🤝 LANZAMIENTO CON LA CÚPULA DEL DISTRIBUIDOR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221991"/>
            <a:ext cx="524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Reunión presencial / virtual con Gerencia y Jefatura de Ventas. Presentar la oferta, margen del tendero y plan de incentivos para sus vendedores. Entregar kit: muestra del producto, calculadora de margen y material de apoyo.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051560"/>
            <a:ext cx="5577840" cy="2606040"/>
          </a:xfrm>
          <a:prstGeom prst="roundRect">
            <a:avLst>
              <a:gd name="adj" fmla="val 20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143000"/>
            <a:ext cx="524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1828800"/>
            <a:ext cx="524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📚 CAPACITACIÓN MASIVA A LOS 785 VENDEDORES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221991"/>
            <a:ext cx="524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Sesiones virtuales/presenciales por zonas (grupos de ~100). Duración: 30 min. Contenido: qué es Edición Estelar, argumentario de ventas, cómo ejecutar la oferta en tienda y cómo ganar el bono.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886200"/>
            <a:ext cx="5577840" cy="2606040"/>
          </a:xfrm>
          <a:prstGeom prst="roundRect">
            <a:avLst>
              <a:gd name="adj" fmla="val 20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3977639"/>
            <a:ext cx="524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4663440"/>
            <a:ext cx="524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💼 KIT DEL VENDEDOR + INCENTIVO PROPIO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5056632"/>
            <a:ext cx="524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Cada vendedor recibe: muestra del producto + flyer A6 para el tendero + QR con video del producto. BONO VENDEDOR: monto escalonado por cada tienda nueva que codifique Edición Estelar en las primeras 4 semanas.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886200"/>
            <a:ext cx="5577840" cy="2606040"/>
          </a:xfrm>
          <a:prstGeom prst="roundRect">
            <a:avLst>
              <a:gd name="adj" fmla="val 20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3977639"/>
            <a:ext cx="524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663440"/>
            <a:ext cx="52486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📊 SEGUIMIENTO SEMANAL Y RANKING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5056632"/>
            <a:ext cx="524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Dashboard compartido con el distribuidor: codificaciones por vendedor / ruta / zona. Ranking semanal enviado por WhatsApp al grupo de ventas del distribuidor. Semana 4: cierre de período de bono y reconocimiento al Top 10.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B4B4"/>
                </a:solidFill>
              </a:rPr>
              <a:t>Super de Alimentos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8632" y="15544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4B4B4"/>
                </a:solidFill>
              </a:rPr>
              <a:t>Mayo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93776"/>
            <a:ext cx="11365992" cy="16459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6199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61813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</a:rPr>
              <a:t>◀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30584" y="6199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30584" y="61813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94360"/>
            <a:ext cx="11503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Resumen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325880"/>
            <a:ext cx="11503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B4B4B4"/>
                </a:solidFill>
              </a:rPr>
              <a:t>Ejecutivo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874519"/>
            <a:ext cx="11430000" cy="1417320"/>
          </a:xfrm>
          <a:prstGeom prst="roundRect">
            <a:avLst>
              <a:gd name="adj" fmla="val 18000"/>
            </a:avLst>
          </a:prstGeom>
          <a:solidFill>
            <a:srgbClr val="AA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984248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9842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1984248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1111"/>
                </a:solidFill>
              </a:rPr>
              <a:t>BRANDING EN MAYORISTAS  ·  Ecuador 🇪🇨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377439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6 pasos: diagnóstico · negociación · brief diseño · producción · instalación · auditoría mensual  ·  Co-branding 30/40/30: identidad del cliente intocable · zona compartida · marca Trululu
Flujo de aprobación en 2 etapas con firma del cliente antes de producir  ·  KPI mensual: % de puntos de venta en condición óptima vs total instalado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447287"/>
            <a:ext cx="11430000" cy="1417320"/>
          </a:xfrm>
          <a:prstGeom prst="roundRect">
            <a:avLst>
              <a:gd name="adj" fmla="val 18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" y="3557015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557015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AFF00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557015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PLAN DE INCENTIVOS  ·  Honduras 🇭🇳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950207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6 pasos: recepción → estandarización → cruce fuente interna → validación → cálculo → pago  ·  18 campos mínimos en 3 categorías: identificación · ejecución en campo · cálculo
Concepto 'REYES DE LA RUTA': 3 niveles (Bronce/Plata/Oro) + coronación mensual  ·  Exclusión automática: &gt; 2 meses inconsistentes o cobertura sostenida &lt; 40 % de la meta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020056"/>
            <a:ext cx="11430000" cy="1417320"/>
          </a:xfrm>
          <a:prstGeom prst="roundRect">
            <a:avLst>
              <a:gd name="adj" fmla="val 18000"/>
            </a:avLst>
          </a:prstGeom>
          <a:solidFill>
            <a:srgbClr val="2B2B2B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5129784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5129784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AFF00"/>
                </a:solidFill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129784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OFERTA EDICIÓN ESTELAR  ·  Ecuador 🇪🇨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522976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4B4B4"/>
                </a:solidFill>
              </a:rPr>
              <a:t>Oferta 3 pilares: codificación (2 displays + 12 % dcto) · bonificación 1×12 · acelerador recompra  ·  4 pasos para activar a 785 vendedores: cúpula distribuidor → capacitación → kit+bono → ranking
Argumento ancla: TOM de Trululu ya conquistado — Edición Estelar es la versión coleccionable urgente  ·  Dashboard compartido con distribuidor + ranking semanal en WhatsApp grupal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6446520"/>
            <a:ext cx="11430000" cy="274320"/>
          </a:xfrm>
          <a:prstGeom prst="roundRect">
            <a:avLst>
              <a:gd name="adj" fmla="val 10000"/>
            </a:avLst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46480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AFF00"/>
                </a:solidFill>
              </a:rPr>
              <a:t>"La estrategia sin ejecución es ilusión. La ejecución sin estrategia es caos. Trade Marketing alinea ambas."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